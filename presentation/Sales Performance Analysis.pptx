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3613" autoAdjust="0"/>
  </p:normalViewPr>
  <p:slideViewPr>
    <p:cSldViewPr snapToGrid="0">
      <p:cViewPr varScale="1">
        <p:scale>
          <a:sx n="87" d="100"/>
          <a:sy n="87" d="100"/>
        </p:scale>
        <p:origin x="648" y="96"/>
      </p:cViewPr>
      <p:guideLst/>
    </p:cSldViewPr>
  </p:slideViewPr>
  <p:outlineViewPr>
    <p:cViewPr>
      <p:scale>
        <a:sx n="33" d="100"/>
        <a:sy n="33" d="100"/>
      </p:scale>
      <p:origin x="0" y="-20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Bhagnani" userId="7e2453dfe9268af6" providerId="LiveId" clId="{C5369EF0-F360-4EC9-9EC4-07537869896E}"/>
    <pc:docChg chg="undo redo custSel addSld delSld modSld addSection delSection">
      <pc:chgData name="Vikram Bhagnani" userId="7e2453dfe9268af6" providerId="LiveId" clId="{C5369EF0-F360-4EC9-9EC4-07537869896E}" dt="2025-08-20T09:45:11.387" v="1317" actId="1037"/>
      <pc:docMkLst>
        <pc:docMk/>
      </pc:docMkLst>
      <pc:sldChg chg="modSp mod">
        <pc:chgData name="Vikram Bhagnani" userId="7e2453dfe9268af6" providerId="LiveId" clId="{C5369EF0-F360-4EC9-9EC4-07537869896E}" dt="2025-08-20T09:42:18.636" v="1315" actId="14100"/>
        <pc:sldMkLst>
          <pc:docMk/>
          <pc:sldMk cId="193143965" sldId="298"/>
        </pc:sldMkLst>
      </pc:sldChg>
      <pc:sldChg chg="modSp mod">
        <pc:chgData name="Vikram Bhagnani" userId="7e2453dfe9268af6" providerId="LiveId" clId="{C5369EF0-F360-4EC9-9EC4-07537869896E}" dt="2025-08-20T09:45:11.387" v="1317" actId="1037"/>
        <pc:sldMkLst>
          <pc:docMk/>
          <pc:sldMk cId="3305858766" sldId="300"/>
        </pc:sldMkLst>
      </pc:sldChg>
      <pc:sldChg chg="modSp mod">
        <pc:chgData name="Vikram Bhagnani" userId="7e2453dfe9268af6" providerId="LiveId" clId="{C5369EF0-F360-4EC9-9EC4-07537869896E}" dt="2025-08-19T08:42:23.231" v="43" actId="113"/>
        <pc:sldMkLst>
          <pc:docMk/>
          <pc:sldMk cId="658142555" sldId="302"/>
        </pc:sldMkLst>
      </pc:sldChg>
      <pc:sldChg chg="modSp mod">
        <pc:chgData name="Vikram Bhagnani" userId="7e2453dfe9268af6" providerId="LiveId" clId="{C5369EF0-F360-4EC9-9EC4-07537869896E}" dt="2025-08-19T09:36:11.618" v="710" actId="1038"/>
        <pc:sldMkLst>
          <pc:docMk/>
          <pc:sldMk cId="3631552946" sldId="303"/>
        </pc:sldMkLst>
      </pc:sldChg>
      <pc:sldChg chg="addSp delSp modSp new mod">
        <pc:chgData name="Vikram Bhagnani" userId="7e2453dfe9268af6" providerId="LiveId" clId="{C5369EF0-F360-4EC9-9EC4-07537869896E}" dt="2025-08-19T09:47:01.987" v="743" actId="14100"/>
        <pc:sldMkLst>
          <pc:docMk/>
          <pc:sldMk cId="2545797031" sldId="304"/>
        </pc:sldMkLst>
      </pc:sldChg>
      <pc:sldChg chg="modSp new mod modClrScheme chgLayout">
        <pc:chgData name="Vikram Bhagnani" userId="7e2453dfe9268af6" providerId="LiveId" clId="{C5369EF0-F360-4EC9-9EC4-07537869896E}" dt="2025-08-19T09:45:49.827" v="737" actId="1076"/>
        <pc:sldMkLst>
          <pc:docMk/>
          <pc:sldMk cId="756281202" sldId="305"/>
        </pc:sldMkLst>
      </pc:sldChg>
      <pc:sldChg chg="addSp delSp modSp new mod modClrScheme chgLayout">
        <pc:chgData name="Vikram Bhagnani" userId="7e2453dfe9268af6" providerId="LiveId" clId="{C5369EF0-F360-4EC9-9EC4-07537869896E}" dt="2025-08-20T09:10:23.923" v="1120" actId="1035"/>
        <pc:sldMkLst>
          <pc:docMk/>
          <pc:sldMk cId="211467806" sldId="306"/>
        </pc:sldMkLst>
      </pc:sldChg>
      <pc:sldChg chg="addSp modSp new mod">
        <pc:chgData name="Vikram Bhagnani" userId="7e2453dfe9268af6" providerId="LiveId" clId="{C5369EF0-F360-4EC9-9EC4-07537869896E}" dt="2025-08-20T09:32:44.566" v="1311" actId="1037"/>
        <pc:sldMkLst>
          <pc:docMk/>
          <pc:sldMk cId="2752398886" sldId="307"/>
        </pc:sldMkLst>
      </pc:sldChg>
      <pc:sldChg chg="new del">
        <pc:chgData name="Vikram Bhagnani" userId="7e2453dfe9268af6" providerId="LiveId" clId="{C5369EF0-F360-4EC9-9EC4-07537869896E}" dt="2025-08-20T09:39:06.503" v="1312" actId="2696"/>
        <pc:sldMkLst>
          <pc:docMk/>
          <pc:sldMk cId="1086981999" sldId="308"/>
        </pc:sldMkLst>
      </pc:sldChg>
    </pc:docChg>
  </pc:docChgLst>
  <pc:docChgLst>
    <pc:chgData name="Vikram Bhagnani" userId="7e2453dfe9268af6" providerId="LiveId" clId="{089DE9C9-3B2D-4765-9372-F642EF9E93DF}"/>
    <pc:docChg chg="undo custSel modSld">
      <pc:chgData name="Vikram Bhagnani" userId="7e2453dfe9268af6" providerId="LiveId" clId="{089DE9C9-3B2D-4765-9372-F642EF9E93DF}" dt="2025-11-17T06:33:16.753" v="17" actId="20577"/>
      <pc:docMkLst>
        <pc:docMk/>
      </pc:docMkLst>
      <pc:sldChg chg="modSp mod">
        <pc:chgData name="Vikram Bhagnani" userId="7e2453dfe9268af6" providerId="LiveId" clId="{089DE9C9-3B2D-4765-9372-F642EF9E93DF}" dt="2025-11-17T06:33:16.753" v="17" actId="20577"/>
        <pc:sldMkLst>
          <pc:docMk/>
          <pc:sldMk cId="211467806" sldId="306"/>
        </pc:sldMkLst>
        <pc:graphicFrameChg chg="modGraphic">
          <ac:chgData name="Vikram Bhagnani" userId="7e2453dfe9268af6" providerId="LiveId" clId="{089DE9C9-3B2D-4765-9372-F642EF9E93DF}" dt="2025-11-17T06:33:16.753" v="17" actId="20577"/>
          <ac:graphicFrameMkLst>
            <pc:docMk/>
            <pc:sldMk cId="211467806" sldId="306"/>
            <ac:graphicFrameMk id="4" creationId="{D38103B3-8ECA-05D1-B4FA-1CFDED5461E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e2453dfe9268af6/Desktop/02%20-%20Data%20Analysis%20Associate/orders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[orders_data.xlsx]Trend Analysis!PivotTable2</c:name>
    <c:fmtId val="11"/>
  </c:pivotSource>
  <c:chart>
    <c:autoTitleDeleted val="0"/>
    <c:pivotFmts>
      <c:pivotFmt>
        <c:idx val="0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22225" cap="rnd" cmpd="sng" algn="ctr">
            <a:solidFill>
              <a:schemeClr val="accent1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'Trend Analysis'!$B$3</c:f>
              <c:strCache>
                <c:ptCount val="1"/>
                <c:pt idx="0">
                  <c:v>Sum of sales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errBars>
            <c:errDir val="y"/>
            <c:errBarType val="both"/>
            <c:errValType val="stdErr"/>
            <c:noEndCap val="0"/>
            <c:spPr>
              <a:noFill/>
              <a:ln w="9525">
                <a:solidFill>
                  <a:schemeClr val="lt1">
                    <a:lumMod val="50000"/>
                  </a:schemeClr>
                </a:solidFill>
                <a:round/>
              </a:ln>
              <a:effectLst/>
            </c:spPr>
          </c:errBars>
          <c:cat>
            <c:strRef>
              <c:f>'Trend Analysis'!$A$4:$A$8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'Trend Analysis'!$B$4:$B$8</c:f>
              <c:numCache>
                <c:formatCode>_-[$$-409]* #,##0_ ;_-[$$-409]* \-#,##0\ ;_-[$$-409]* "-"??_ ;_-@_ </c:formatCode>
                <c:ptCount val="4"/>
                <c:pt idx="0">
                  <c:v>484247.4981000009</c:v>
                </c:pt>
                <c:pt idx="1">
                  <c:v>470532.50899999985</c:v>
                </c:pt>
                <c:pt idx="2">
                  <c:v>610687.42600000068</c:v>
                </c:pt>
                <c:pt idx="3">
                  <c:v>731733.4271999998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3A-4E08-A362-421C7DC764C4}"/>
            </c:ext>
          </c:extLst>
        </c:ser>
        <c:ser>
          <c:idx val="1"/>
          <c:order val="1"/>
          <c:tx>
            <c:strRef>
              <c:f>'Trend Analysis'!$C$3</c:f>
              <c:strCache>
                <c:ptCount val="1"/>
                <c:pt idx="0">
                  <c:v>Sum of profit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errBars>
            <c:errDir val="y"/>
            <c:errBarType val="both"/>
            <c:errValType val="stdErr"/>
            <c:noEndCap val="0"/>
            <c:spPr>
              <a:noFill/>
              <a:ln w="9525">
                <a:solidFill>
                  <a:schemeClr val="lt1">
                    <a:lumMod val="50000"/>
                  </a:schemeClr>
                </a:solidFill>
                <a:round/>
              </a:ln>
              <a:effectLst/>
            </c:spPr>
          </c:errBars>
          <c:cat>
            <c:strRef>
              <c:f>'Trend Analysis'!$A$4:$A$8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'Trend Analysis'!$C$4:$C$8</c:f>
              <c:numCache>
                <c:formatCode>_-[$$-409]* #,##0_ ;_-[$$-409]* \-#,##0\ ;_-[$$-409]* "-"??_ ;_-@_ </c:formatCode>
                <c:ptCount val="4"/>
                <c:pt idx="0">
                  <c:v>49543.97410000005</c:v>
                </c:pt>
                <c:pt idx="1">
                  <c:v>61618.60370000008</c:v>
                </c:pt>
                <c:pt idx="2">
                  <c:v>81613.763400000171</c:v>
                </c:pt>
                <c:pt idx="3">
                  <c:v>93620.680499999988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3A-4E08-A362-421C7DC76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4259328"/>
        <c:axId val="1024279968"/>
      </c:lineChart>
      <c:catAx>
        <c:axId val="1024259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279968"/>
        <c:crosses val="autoZero"/>
        <c:auto val="1"/>
        <c:lblAlgn val="ctr"/>
        <c:lblOffset val="100"/>
        <c:noMultiLvlLbl val="0"/>
      </c:catAx>
      <c:valAx>
        <c:axId val="102427996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-[$$-409]* #,##0_ ;_-[$$-409]* \-#,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259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9334" y="1475234"/>
            <a:ext cx="3532698" cy="2901694"/>
          </a:xfrm>
        </p:spPr>
        <p:txBody>
          <a:bodyPr anchor="b">
            <a:normAutofit/>
          </a:bodyPr>
          <a:lstStyle/>
          <a:p>
            <a:r>
              <a:rPr lang="en-IN" sz="4400" dirty="0"/>
              <a:t>Sales Performance Analysis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Vikram bhagnani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Aug - 2025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191-5291-FB59-AAA8-25A31502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1B7F-28C2-1FEF-8030-1155204A6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17666"/>
            <a:ext cx="10058400" cy="182266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Performed correlation, trend analysis, ranking analysis, and comparison analysis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Understand how sales, profit, and quantity have evolved over 3 years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Pinpoint high-performing regions, categories, and sub-categories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Highlight drivers of growth and profitability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Provide business leaders with an interactive dashboard for forecasting and strategy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5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47D9-9C73-B6A5-692C-34A7142F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E99A2C-216E-80B1-437B-F98477F7F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949902"/>
            <a:ext cx="10501465" cy="207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Company sales order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Duration: 3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Key Columns: </a:t>
            </a:r>
            <a:r>
              <a:rPr lang="en-US" dirty="0" err="1"/>
              <a:t>row_id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order_id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order_date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ship_date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ship_mode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customer_id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 err="1"/>
              <a:t>customer_name</a:t>
            </a:r>
            <a:r>
              <a:rPr lang="en-US" dirty="0"/>
              <a:t>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	           segment,</a:t>
            </a:r>
            <a:r>
              <a:rPr lang="en-US" sz="1800" dirty="0"/>
              <a:t> </a:t>
            </a:r>
            <a:r>
              <a:rPr lang="en-US" dirty="0"/>
              <a:t>country,</a:t>
            </a:r>
            <a:r>
              <a:rPr lang="en-US" sz="1800" dirty="0"/>
              <a:t> </a:t>
            </a:r>
            <a:r>
              <a:rPr lang="en-US" dirty="0"/>
              <a:t>city,</a:t>
            </a:r>
            <a:r>
              <a:rPr lang="en-US" sz="1800" dirty="0"/>
              <a:t> </a:t>
            </a:r>
            <a:r>
              <a:rPr lang="en-US" dirty="0"/>
              <a:t>state,</a:t>
            </a:r>
            <a:r>
              <a:rPr lang="en-US" sz="1800" dirty="0"/>
              <a:t> </a:t>
            </a:r>
            <a:r>
              <a:rPr lang="en-US" dirty="0" err="1"/>
              <a:t>postal_code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/>
              <a:t>region,</a:t>
            </a:r>
            <a:r>
              <a:rPr lang="en-US" sz="1800" dirty="0"/>
              <a:t> </a:t>
            </a:r>
            <a:r>
              <a:rPr lang="en-US" dirty="0" err="1"/>
              <a:t>product_id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/>
              <a:t>category,</a:t>
            </a:r>
            <a:r>
              <a:rPr lang="en-US" sz="1800" dirty="0"/>
              <a:t> </a:t>
            </a:r>
            <a:r>
              <a:rPr lang="en-US" dirty="0" err="1"/>
              <a:t>sub_category</a:t>
            </a:r>
            <a:r>
              <a:rPr lang="en-US" dirty="0"/>
              <a:t>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	           </a:t>
            </a:r>
            <a:r>
              <a:rPr lang="en-US" dirty="0" err="1"/>
              <a:t>product_name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dirty="0"/>
              <a:t>sales,</a:t>
            </a:r>
            <a:r>
              <a:rPr lang="en-US" sz="1800" dirty="0"/>
              <a:t> </a:t>
            </a:r>
            <a:r>
              <a:rPr lang="en-US" dirty="0"/>
              <a:t>quantity,</a:t>
            </a:r>
            <a:r>
              <a:rPr lang="en-US" sz="1800" dirty="0"/>
              <a:t> </a:t>
            </a:r>
            <a:r>
              <a:rPr lang="en-US" dirty="0"/>
              <a:t>discount,</a:t>
            </a:r>
            <a:r>
              <a:rPr lang="en-US" sz="1800" dirty="0"/>
              <a:t> </a:t>
            </a:r>
            <a:r>
              <a:rPr lang="en-US" dirty="0"/>
              <a:t>profit</a:t>
            </a:r>
            <a:r>
              <a:rPr lang="en-US" sz="18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Sheets used: Correlation, Trend Analysis, Comparison Analysis, Ranking Analysis, Dashboard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27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EA1E-B2B9-E787-CCE3-80BD2CAA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770" y="276093"/>
            <a:ext cx="10058400" cy="1450757"/>
          </a:xfrm>
        </p:spPr>
        <p:txBody>
          <a:bodyPr/>
          <a:lstStyle/>
          <a:p>
            <a:r>
              <a:rPr lang="en-US" sz="4800" b="1" dirty="0"/>
              <a:t>Correlation:</a:t>
            </a:r>
            <a:endParaRPr lang="en-IN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0F36633-8E54-9277-0A95-57E3768E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0863" y="2537837"/>
            <a:ext cx="6452583" cy="16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4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360D-0447-7E81-6665-D858C650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770" y="828247"/>
            <a:ext cx="9307961" cy="70136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Trend / Time Series Analysis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41E1E8-8754-382A-A42D-3F2DD8C66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499959"/>
              </p:ext>
            </p:extLst>
          </p:nvPr>
        </p:nvGraphicFramePr>
        <p:xfrm>
          <a:off x="1235789" y="1927597"/>
          <a:ext cx="4084635" cy="222504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361545">
                  <a:extLst>
                    <a:ext uri="{9D8B030D-6E8A-4147-A177-3AD203B41FA5}">
                      <a16:colId xmlns:a16="http://schemas.microsoft.com/office/drawing/2014/main" val="618623437"/>
                    </a:ext>
                  </a:extLst>
                </a:gridCol>
                <a:gridCol w="1361545">
                  <a:extLst>
                    <a:ext uri="{9D8B030D-6E8A-4147-A177-3AD203B41FA5}">
                      <a16:colId xmlns:a16="http://schemas.microsoft.com/office/drawing/2014/main" val="482528226"/>
                    </a:ext>
                  </a:extLst>
                </a:gridCol>
                <a:gridCol w="1361545">
                  <a:extLst>
                    <a:ext uri="{9D8B030D-6E8A-4147-A177-3AD203B41FA5}">
                      <a16:colId xmlns:a16="http://schemas.microsoft.com/office/drawing/2014/main" val="2749447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YEAR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</a:t>
                      </a: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ALES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</a:t>
                      </a: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ROFIT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09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2019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4,84,247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49,544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50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2020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4,70,533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61,619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31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2021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6,10,687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81,614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97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2022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7,31,733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93,621 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03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Grand Total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22,97,201 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2,86,397 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266744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7CEAA3E-DED9-C1CB-BDF7-E54F778A28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359633"/>
              </p:ext>
            </p:extLst>
          </p:nvPr>
        </p:nvGraphicFramePr>
        <p:xfrm>
          <a:off x="1223089" y="4226210"/>
          <a:ext cx="4084635" cy="2110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930581-D47C-1C3C-8BBF-DEDB43F35342}"/>
              </a:ext>
            </a:extLst>
          </p:cNvPr>
          <p:cNvSpPr txBox="1"/>
          <p:nvPr/>
        </p:nvSpPr>
        <p:spPr>
          <a:xfrm>
            <a:off x="5495210" y="1927597"/>
            <a:ext cx="56689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INSHITS</a:t>
            </a:r>
          </a:p>
          <a:p>
            <a:pPr marL="342900" indent="-342900" algn="just">
              <a:buAutoNum type="arabicPeriod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Consistent Growth: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Sales and profit have shown a steady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year-on-year increase from 2020 to 2022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indicating strong overall business performance.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Profit Outpaced Sales in 2020: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2020,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sales slightly declined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but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profit increased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— suggesting better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cost management or higher margins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3. 2022 Was the Best Year: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sales (₹7.31L)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profit (₹93.6K)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peaked in 2022, making it the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most successful year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 terms of revenue and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363155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95D4-87AD-AF19-5EBC-B917E22E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8987"/>
            <a:ext cx="10058400" cy="1012139"/>
          </a:xfrm>
        </p:spPr>
        <p:txBody>
          <a:bodyPr/>
          <a:lstStyle/>
          <a:p>
            <a:r>
              <a:rPr lang="en-IN" b="1" dirty="0"/>
              <a:t>Comparison Analysis: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E66AD-9360-5D68-DA91-E4EFDFDEE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411143"/>
              </p:ext>
            </p:extLst>
          </p:nvPr>
        </p:nvGraphicFramePr>
        <p:xfrm>
          <a:off x="1118844" y="1369060"/>
          <a:ext cx="9954312" cy="176022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586417">
                  <a:extLst>
                    <a:ext uri="{9D8B030D-6E8A-4147-A177-3AD203B41FA5}">
                      <a16:colId xmlns:a16="http://schemas.microsoft.com/office/drawing/2014/main" val="3721146181"/>
                    </a:ext>
                  </a:extLst>
                </a:gridCol>
                <a:gridCol w="1910244">
                  <a:extLst>
                    <a:ext uri="{9D8B030D-6E8A-4147-A177-3AD203B41FA5}">
                      <a16:colId xmlns:a16="http://schemas.microsoft.com/office/drawing/2014/main" val="3703385722"/>
                    </a:ext>
                  </a:extLst>
                </a:gridCol>
                <a:gridCol w="2512103">
                  <a:extLst>
                    <a:ext uri="{9D8B030D-6E8A-4147-A177-3AD203B41FA5}">
                      <a16:colId xmlns:a16="http://schemas.microsoft.com/office/drawing/2014/main" val="4266008060"/>
                    </a:ext>
                  </a:extLst>
                </a:gridCol>
                <a:gridCol w="3945548">
                  <a:extLst>
                    <a:ext uri="{9D8B030D-6E8A-4147-A177-3AD203B41FA5}">
                      <a16:colId xmlns:a16="http://schemas.microsoft.com/office/drawing/2014/main" val="514521713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Region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Total Sales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Total Profit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Key Observation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37415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Central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5,01,240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39,706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 Lowest sales &amp; profit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97531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East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6,78,781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91,523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 Strong growth in profit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197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South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3,91,722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46,749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 Moderate performance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5754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West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7,25,458</a:t>
                      </a:r>
                      <a:endParaRPr lang="en-IN" sz="1400" b="0" i="0" u="none" strike="noStrike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₹ 1,08,418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  <a:latin typeface="Lato Black" panose="020F0502020204030203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 Highest performer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Lato Black" panose="020F0502020204030203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46401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22298A9-6FA5-4B6E-6B69-B6A68E21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3" y="3307214"/>
            <a:ext cx="6108287" cy="291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9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A422-EA2A-DDCF-3299-A711541D70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599" y="203116"/>
            <a:ext cx="10058400" cy="723315"/>
          </a:xfrm>
        </p:spPr>
        <p:txBody>
          <a:bodyPr/>
          <a:lstStyle/>
          <a:p>
            <a:r>
              <a:rPr lang="en-IN" sz="2800" b="1" dirty="0"/>
              <a:t>Insights: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E7C6-D152-C2A5-863D-F386526903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599" y="1157329"/>
            <a:ext cx="10507579" cy="4543341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AutoNum type="arabicPeriod"/>
            </a:pPr>
            <a:r>
              <a:rPr lang="en-IN" b="1" dirty="0">
                <a:solidFill>
                  <a:schemeClr val="tx1"/>
                </a:solidFill>
              </a:rPr>
              <a:t>West Region Outperformed Others :– </a:t>
            </a:r>
            <a:r>
              <a:rPr lang="en-IN" b="1" dirty="0"/>
              <a:t>Total Sales (2019–2022)</a:t>
            </a:r>
            <a:r>
              <a:rPr lang="en-IN" dirty="0"/>
              <a:t>: $725,457.82 </a:t>
            </a:r>
            <a:r>
              <a:rPr lang="en-IN" b="1" dirty="0"/>
              <a:t>Total Profit</a:t>
            </a:r>
            <a:r>
              <a:rPr lang="en-IN" dirty="0"/>
              <a:t>: $108,418.45.West showed </a:t>
            </a:r>
            <a:r>
              <a:rPr lang="en-IN" b="1" dirty="0"/>
              <a:t>the highest total sales and profit</a:t>
            </a:r>
            <a:r>
              <a:rPr lang="en-IN" dirty="0"/>
              <a:t> among all four regions. It consistently increased in both metrics year over year, peaking in 2022.</a:t>
            </a:r>
          </a:p>
          <a:p>
            <a:pPr marL="457200" indent="-457200" algn="just">
              <a:buAutoNum type="arabicPeriod"/>
            </a:pPr>
            <a:r>
              <a:rPr lang="en-IN" b="1" dirty="0"/>
              <a:t>East Region Had High Profitability Growth : - Total Profit (2019–2022)</a:t>
            </a:r>
            <a:r>
              <a:rPr lang="en-IN" dirty="0"/>
              <a:t>: $91,522.78 (2nd highest). Significant improvement in </a:t>
            </a:r>
            <a:r>
              <a:rPr lang="en-IN" b="1" dirty="0"/>
              <a:t>2020 and 2022</a:t>
            </a:r>
            <a:r>
              <a:rPr lang="en-IN" dirty="0"/>
              <a:t>, with over $30,000 in profit in 2022. East managed to maintain </a:t>
            </a:r>
            <a:r>
              <a:rPr lang="en-IN" b="1" dirty="0"/>
              <a:t>steady growth</a:t>
            </a:r>
            <a:r>
              <a:rPr lang="en-IN" dirty="0"/>
              <a:t> in both sales and profit.</a:t>
            </a:r>
          </a:p>
          <a:p>
            <a:pPr marL="457200" indent="-457200" algn="just">
              <a:buAutoNum type="arabicPeriod"/>
            </a:pPr>
            <a:r>
              <a:rPr lang="en-IN" b="1" dirty="0"/>
              <a:t>Central Region Lagged Behind :- Lowest total profit</a:t>
            </a:r>
            <a:r>
              <a:rPr lang="en-IN" dirty="0"/>
              <a:t> across all regions: $39,706.36. Sales figures were also the lowest, with a </a:t>
            </a:r>
            <a:r>
              <a:rPr lang="en-IN" b="1" dirty="0"/>
              <a:t>downward trend after 2021</a:t>
            </a:r>
            <a:r>
              <a:rPr lang="en-IN" dirty="0"/>
              <a:t>. Indicates either low customer engagement or operational inefficiency.</a:t>
            </a:r>
            <a:endParaRPr lang="en-IN" b="1" dirty="0">
              <a:solidFill>
                <a:schemeClr val="tx1"/>
              </a:solidFill>
            </a:endParaRPr>
          </a:p>
          <a:p>
            <a:pPr marL="457200" indent="-457200" algn="just">
              <a:buAutoNum type="arabicPeriod"/>
            </a:pPr>
            <a:r>
              <a:rPr lang="en-IN" b="1" dirty="0"/>
              <a:t>South Region Had Stagnant Performance : - </a:t>
            </a:r>
            <a:r>
              <a:rPr lang="en-IN" dirty="0"/>
              <a:t>Although </a:t>
            </a:r>
            <a:r>
              <a:rPr lang="en-IN" b="1" dirty="0"/>
              <a:t>South had consistent sales (~$100k per year)</a:t>
            </a:r>
            <a:r>
              <a:rPr lang="en-IN" dirty="0"/>
              <a:t>, its profit margin remained moderate. </a:t>
            </a:r>
            <a:r>
              <a:rPr lang="en-IN" b="1" dirty="0"/>
              <a:t>Total profit</a:t>
            </a:r>
            <a:r>
              <a:rPr lang="en-IN" dirty="0"/>
              <a:t> over 4 years: $46,749.43. Suggests a need to </a:t>
            </a:r>
            <a:r>
              <a:rPr lang="en-IN" b="1" dirty="0"/>
              <a:t>optimize profitability</a:t>
            </a:r>
            <a:r>
              <a:rPr lang="en-IN" dirty="0"/>
              <a:t> even if sales volume is steady.</a:t>
            </a:r>
          </a:p>
          <a:p>
            <a:pPr marL="457200" indent="-457200" algn="just">
              <a:buAutoNum type="arabicPeriod"/>
            </a:pPr>
            <a:r>
              <a:rPr lang="en-IN" b="1" dirty="0"/>
              <a:t>Year-Wise Trend (Across All Regions) : - </a:t>
            </a:r>
            <a:r>
              <a:rPr lang="en-IN" dirty="0"/>
              <a:t>Both </a:t>
            </a:r>
            <a:r>
              <a:rPr lang="en-IN" b="1" dirty="0"/>
              <a:t>sales and profit increased every year from 2019 to 2022</a:t>
            </a:r>
            <a:r>
              <a:rPr lang="en-IN" dirty="0"/>
              <a:t> across the dataset.</a:t>
            </a:r>
            <a:r>
              <a:rPr lang="en-IN" b="1" dirty="0"/>
              <a:t> 2022 recorded the highest</a:t>
            </a:r>
            <a:r>
              <a:rPr lang="en-IN" dirty="0"/>
              <a:t> total sales ($731k) and profit ($93.6k). Indicates positive business growth and market expansion over time.</a:t>
            </a:r>
          </a:p>
        </p:txBody>
      </p:sp>
    </p:spTree>
    <p:extLst>
      <p:ext uri="{BB962C8B-B14F-4D97-AF65-F5344CB8AC3E}">
        <p14:creationId xmlns:p14="http://schemas.microsoft.com/office/powerpoint/2010/main" val="75628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75037-E867-331E-006C-FD29DC3E1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916456"/>
              </p:ext>
            </p:extLst>
          </p:nvPr>
        </p:nvGraphicFramePr>
        <p:xfrm>
          <a:off x="1171074" y="336879"/>
          <a:ext cx="3136233" cy="6027826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249968">
                  <a:extLst>
                    <a:ext uri="{9D8B030D-6E8A-4147-A177-3AD203B41FA5}">
                      <a16:colId xmlns:a16="http://schemas.microsoft.com/office/drawing/2014/main" val="788425811"/>
                    </a:ext>
                  </a:extLst>
                </a:gridCol>
                <a:gridCol w="1207753">
                  <a:extLst>
                    <a:ext uri="{9D8B030D-6E8A-4147-A177-3AD203B41FA5}">
                      <a16:colId xmlns:a16="http://schemas.microsoft.com/office/drawing/2014/main" val="2556305148"/>
                    </a:ext>
                  </a:extLst>
                </a:gridCol>
                <a:gridCol w="678512">
                  <a:extLst>
                    <a:ext uri="{9D8B030D-6E8A-4147-A177-3AD203B41FA5}">
                      <a16:colId xmlns:a16="http://schemas.microsoft.com/office/drawing/2014/main" val="3054120303"/>
                    </a:ext>
                  </a:extLst>
                </a:gridCol>
              </a:tblGrid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Sub-Category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Total Profit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Rank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51470647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Copiers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55,618 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8335083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Phones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44,516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2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370762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Accessories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41,937 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3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318797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Paper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34,054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4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609584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Binders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30,222 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5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2121883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Chairs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26,590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6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388435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Storage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21,279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7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611008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Appliances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18,138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8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619311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Furnishings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13,059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9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340147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Envelopes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  6,964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10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9005046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Art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  6,528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11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023033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Labels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  5,546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12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4942864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Machines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  3,385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13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972390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Fasteners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     950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14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497985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Supplies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-1,189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15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8804439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Bookcases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  -3,473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16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422422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Tables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  -17,725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17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263955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Grand Total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  <a:ea typeface="Lato Black" panose="020F0502020204030203" pitchFamily="34" charset="0"/>
                          <a:cs typeface="Lato Black" panose="020F0502020204030203" pitchFamily="34" charset="0"/>
                        </a:rPr>
                        <a:t> $       2,86,397 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  <a:ea typeface="Lato Black" panose="020F0502020204030203" pitchFamily="34" charset="0"/>
                        <a:cs typeface="Lato Black" panose="020F0502020204030203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158199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A2603D-67B2-F039-4753-10BF4161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623593"/>
              </p:ext>
            </p:extLst>
          </p:nvPr>
        </p:nvGraphicFramePr>
        <p:xfrm>
          <a:off x="4656222" y="336879"/>
          <a:ext cx="2983831" cy="6027826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189227">
                  <a:extLst>
                    <a:ext uri="{9D8B030D-6E8A-4147-A177-3AD203B41FA5}">
                      <a16:colId xmlns:a16="http://schemas.microsoft.com/office/drawing/2014/main" val="788425811"/>
                    </a:ext>
                  </a:extLst>
                </a:gridCol>
                <a:gridCol w="1149064">
                  <a:extLst>
                    <a:ext uri="{9D8B030D-6E8A-4147-A177-3AD203B41FA5}">
                      <a16:colId xmlns:a16="http://schemas.microsoft.com/office/drawing/2014/main" val="2556305148"/>
                    </a:ext>
                  </a:extLst>
                </a:gridCol>
                <a:gridCol w="645540">
                  <a:extLst>
                    <a:ext uri="{9D8B030D-6E8A-4147-A177-3AD203B41FA5}">
                      <a16:colId xmlns:a16="http://schemas.microsoft.com/office/drawing/2014/main" val="3054120303"/>
                    </a:ext>
                  </a:extLst>
                </a:gridCol>
              </a:tblGrid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Sub-Category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Total Sales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Rank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51470647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Phones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3,30,007 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8335083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Chairs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3,28,449 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370762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Storage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2,23,844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318797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Tables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2,06,966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609584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Binders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2,03,413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2121883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Machines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1,89,239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388435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Accessories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1,67,380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611008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Copiers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1,49,528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8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619311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Bookcases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1,14,880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9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340147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Appliances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1,07,532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10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9005046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Furnishings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91,705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11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023033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Paper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78,479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12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4942864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Supplies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46,674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13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972390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Art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27,119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14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497985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Envelopes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16,476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15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8804439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Labels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12,486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16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422422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Fasteners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       3,024 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17</a:t>
                      </a:r>
                      <a:endParaRPr lang="en-IN" sz="1500" b="0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263955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Grand Total</a:t>
                      </a:r>
                      <a:endParaRPr lang="en-IN" sz="15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 $  22,97,201 </a:t>
                      </a:r>
                      <a:endParaRPr lang="en-IN" sz="15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15819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103B3-8ECA-05D1-B4FA-1CFDED546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01532"/>
              </p:ext>
            </p:extLst>
          </p:nvPr>
        </p:nvGraphicFramePr>
        <p:xfrm>
          <a:off x="7976937" y="348917"/>
          <a:ext cx="3031957" cy="5710572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208408">
                  <a:extLst>
                    <a:ext uri="{9D8B030D-6E8A-4147-A177-3AD203B41FA5}">
                      <a16:colId xmlns:a16="http://schemas.microsoft.com/office/drawing/2014/main" val="788425811"/>
                    </a:ext>
                  </a:extLst>
                </a:gridCol>
                <a:gridCol w="1167597">
                  <a:extLst>
                    <a:ext uri="{9D8B030D-6E8A-4147-A177-3AD203B41FA5}">
                      <a16:colId xmlns:a16="http://schemas.microsoft.com/office/drawing/2014/main" val="2556305148"/>
                    </a:ext>
                  </a:extLst>
                </a:gridCol>
                <a:gridCol w="655952">
                  <a:extLst>
                    <a:ext uri="{9D8B030D-6E8A-4147-A177-3AD203B41FA5}">
                      <a16:colId xmlns:a16="http://schemas.microsoft.com/office/drawing/2014/main" val="3054120303"/>
                    </a:ext>
                  </a:extLst>
                </a:gridCol>
              </a:tblGrid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Sub-Category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Total Sales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Rank</a:t>
                      </a:r>
                      <a:endParaRPr lang="en-IN" sz="1500" b="1" i="0" u="none" strike="noStrike" dirty="0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51470647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Phones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120.70%</a:t>
                      </a: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8335083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Chairs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119.66%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370762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49.70%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9318797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Tables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38.41%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6095840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Binders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36.04%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2121883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Machines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26.56%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3884358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Accessories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11.94%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611008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Copiers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5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619311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Bookcases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-23.17%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3401471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Appliances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-28.09%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59005046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Furnishings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-38.67%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023033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Paper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-47.52%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4942864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Supplies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-68.79%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972390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-81.86%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4979855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Envelopes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-88.98%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8804439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Labels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-91.65%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84224222"/>
                  </a:ext>
                </a:extLst>
              </a:tr>
              <a:tr h="317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Fasteners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-97.98%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26395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85C90B-DC9A-9ACF-7113-581932071334}"/>
              </a:ext>
            </a:extLst>
          </p:cNvPr>
          <p:cNvSpPr txBox="1"/>
          <p:nvPr/>
        </p:nvSpPr>
        <p:spPr>
          <a:xfrm>
            <a:off x="1074821" y="-108287"/>
            <a:ext cx="265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highlight>
                  <a:srgbClr val="00FF00"/>
                </a:highlight>
              </a:rPr>
              <a:t>1) Based On Profit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7B309-D13B-4F9E-82C3-89A4AB669528}"/>
              </a:ext>
            </a:extLst>
          </p:cNvPr>
          <p:cNvSpPr txBox="1"/>
          <p:nvPr/>
        </p:nvSpPr>
        <p:spPr>
          <a:xfrm>
            <a:off x="7880686" y="-92613"/>
            <a:ext cx="265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highlight>
                  <a:srgbClr val="00FF00"/>
                </a:highlight>
              </a:rPr>
              <a:t>3) Bench Marking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B36B0-C3F4-8E4E-8CD6-D0AC4CF72E60}"/>
              </a:ext>
            </a:extLst>
          </p:cNvPr>
          <p:cNvSpPr txBox="1"/>
          <p:nvPr/>
        </p:nvSpPr>
        <p:spPr>
          <a:xfrm>
            <a:off x="4596063" y="-96262"/>
            <a:ext cx="2658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highlight>
                  <a:srgbClr val="00FF00"/>
                </a:highlight>
              </a:rPr>
              <a:t>2) Based On 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339C4-C9B5-873F-676E-2A828470E024}"/>
              </a:ext>
            </a:extLst>
          </p:cNvPr>
          <p:cNvSpPr txBox="1"/>
          <p:nvPr/>
        </p:nvSpPr>
        <p:spPr>
          <a:xfrm>
            <a:off x="252543" y="0"/>
            <a:ext cx="579646" cy="674971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r>
              <a:rPr lang="en-IN" sz="22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RANKING ANALYSIS</a:t>
            </a:r>
            <a:endParaRPr lang="en-IN" sz="22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6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D4F0-E9C8-2DDE-D022-F5629638DABA}"/>
              </a:ext>
            </a:extLst>
          </p:cNvPr>
          <p:cNvSpPr txBox="1">
            <a:spLocks/>
          </p:cNvSpPr>
          <p:nvPr/>
        </p:nvSpPr>
        <p:spPr>
          <a:xfrm>
            <a:off x="348914" y="203116"/>
            <a:ext cx="10058400" cy="506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Insights: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32A3A-0E0E-4D16-660B-E3134484FC69}"/>
              </a:ext>
            </a:extLst>
          </p:cNvPr>
          <p:cNvSpPr txBox="1">
            <a:spLocks/>
          </p:cNvSpPr>
          <p:nvPr/>
        </p:nvSpPr>
        <p:spPr>
          <a:xfrm>
            <a:off x="409074" y="709863"/>
            <a:ext cx="11333747" cy="5450305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Calibri" panose="020F0502020204030204" pitchFamily="34" charset="0"/>
              <a:buAutoNum type="arabicPeriod"/>
            </a:pPr>
            <a:r>
              <a:rPr lang="en-US" b="1" dirty="0"/>
              <a:t>Copiers Are the Most Profitable Sub-Category : - </a:t>
            </a:r>
            <a:r>
              <a:rPr lang="en-IN" b="1" dirty="0"/>
              <a:t>Profit:</a:t>
            </a:r>
            <a:r>
              <a:rPr lang="en-IN" dirty="0"/>
              <a:t> $55,618 — </a:t>
            </a:r>
            <a:r>
              <a:rPr lang="en-IN" b="1" dirty="0"/>
              <a:t>Rank 1 in Profit  - </a:t>
            </a:r>
            <a:r>
              <a:rPr lang="en-US" b="1" dirty="0"/>
              <a:t>Sales Rank:</a:t>
            </a:r>
            <a:r>
              <a:rPr lang="en-US" dirty="0"/>
              <a:t> 8th (approx. $1,49,000). Despite being </a:t>
            </a:r>
            <a:r>
              <a:rPr lang="en-US" b="1" dirty="0"/>
              <a:t>mid-tier in sales</a:t>
            </a:r>
            <a:r>
              <a:rPr lang="en-US" dirty="0"/>
              <a:t>, Copiers deliver the </a:t>
            </a:r>
            <a:r>
              <a:rPr lang="en-US" b="1" dirty="0"/>
              <a:t>highest profit</a:t>
            </a:r>
            <a:r>
              <a:rPr lang="en-US" dirty="0"/>
              <a:t>, indicating </a:t>
            </a:r>
            <a:r>
              <a:rPr lang="en-US" b="1" dirty="0"/>
              <a:t>strong margins</a:t>
            </a:r>
            <a:r>
              <a:rPr lang="en-US" dirty="0"/>
              <a:t> or pricing power. </a:t>
            </a:r>
          </a:p>
          <a:p>
            <a:pPr marL="457200" indent="-457200" algn="just">
              <a:buFont typeface="Calibri" panose="020F0502020204030204" pitchFamily="34" charset="0"/>
              <a:buAutoNum type="arabicPeriod"/>
            </a:pPr>
            <a:r>
              <a:rPr lang="en-US" b="1" dirty="0"/>
              <a:t>Phones Drive High Sales and Profit</a:t>
            </a:r>
            <a:r>
              <a:rPr lang="en-US" dirty="0"/>
              <a:t> : - </a:t>
            </a:r>
            <a:r>
              <a:rPr lang="en-IN" b="1" dirty="0"/>
              <a:t>Sales:</a:t>
            </a:r>
            <a:r>
              <a:rPr lang="en-IN" dirty="0"/>
              <a:t> $3,28,449 — </a:t>
            </a:r>
            <a:r>
              <a:rPr lang="en-IN" b="1" dirty="0"/>
              <a:t>Rank 2</a:t>
            </a:r>
            <a:r>
              <a:rPr lang="en-IN" dirty="0"/>
              <a:t> ;  </a:t>
            </a:r>
            <a:r>
              <a:rPr lang="en-IN" b="1" dirty="0"/>
              <a:t>Profit:</a:t>
            </a:r>
            <a:r>
              <a:rPr lang="en-IN" dirty="0"/>
              <a:t> $44,516 — </a:t>
            </a:r>
            <a:r>
              <a:rPr lang="en-IN" b="1" dirty="0"/>
              <a:t>Rank 2. </a:t>
            </a:r>
            <a:r>
              <a:rPr lang="en-US" dirty="0"/>
              <a:t>Phones are the </a:t>
            </a:r>
            <a:r>
              <a:rPr lang="en-US" b="1" dirty="0"/>
              <a:t>only sub-category</a:t>
            </a:r>
            <a:r>
              <a:rPr lang="en-US" dirty="0"/>
              <a:t> in </a:t>
            </a:r>
            <a:r>
              <a:rPr lang="en-US" b="1" dirty="0"/>
              <a:t>Top 2 for both Sales and Profit</a:t>
            </a:r>
            <a:r>
              <a:rPr lang="en-US" dirty="0"/>
              <a:t>, showing </a:t>
            </a:r>
            <a:r>
              <a:rPr lang="en-US" b="1" dirty="0"/>
              <a:t>high demand and profitability</a:t>
            </a:r>
            <a:r>
              <a:rPr lang="en-US" dirty="0"/>
              <a:t>. Likely a key focus area for business growth.</a:t>
            </a:r>
          </a:p>
          <a:p>
            <a:pPr marL="457200" indent="-457200" algn="just">
              <a:buFont typeface="Calibri" panose="020F0502020204030204" pitchFamily="34" charset="0"/>
              <a:buAutoNum type="arabicPeriod"/>
            </a:pPr>
            <a:r>
              <a:rPr lang="en-US" b="1" dirty="0"/>
              <a:t>Accessories Are Hidden Gems</a:t>
            </a:r>
            <a:r>
              <a:rPr lang="en-US" dirty="0"/>
              <a:t> : - </a:t>
            </a:r>
            <a:r>
              <a:rPr lang="en-US" b="1" dirty="0"/>
              <a:t>Profit Rank:</a:t>
            </a:r>
            <a:r>
              <a:rPr lang="en-US" dirty="0"/>
              <a:t> 3rd with $41,937 ; </a:t>
            </a:r>
            <a:r>
              <a:rPr lang="en-US" b="1" dirty="0"/>
              <a:t>Sales Rank:</a:t>
            </a:r>
            <a:r>
              <a:rPr lang="en-US" dirty="0"/>
              <a:t> 7th (approx. $1,89,000).  High profitability despite being </a:t>
            </a:r>
            <a:r>
              <a:rPr lang="en-US" b="1" dirty="0"/>
              <a:t>lower in the sales rank</a:t>
            </a:r>
            <a:r>
              <a:rPr lang="en-US" dirty="0"/>
              <a:t>, suggesting room for </a:t>
            </a:r>
            <a:r>
              <a:rPr lang="en-US" b="1" dirty="0"/>
              <a:t>sales expansion</a:t>
            </a:r>
            <a:r>
              <a:rPr lang="en-US" dirty="0"/>
              <a:t>. </a:t>
            </a:r>
          </a:p>
          <a:p>
            <a:pPr marL="457200" indent="-457200" algn="just">
              <a:buFont typeface="Calibri" panose="020F0502020204030204" pitchFamily="34" charset="0"/>
              <a:buAutoNum type="arabicPeriod"/>
            </a:pPr>
            <a:r>
              <a:rPr lang="en-US" b="1" dirty="0"/>
              <a:t>Tables Have the Worst Performance</a:t>
            </a:r>
            <a:r>
              <a:rPr lang="en-US" dirty="0"/>
              <a:t> : - </a:t>
            </a:r>
            <a:r>
              <a:rPr lang="en-US" b="1" dirty="0"/>
              <a:t>Profit:</a:t>
            </a:r>
            <a:r>
              <a:rPr lang="en-US" dirty="0"/>
              <a:t> </a:t>
            </a:r>
            <a:r>
              <a:rPr lang="en-US" b="1" dirty="0"/>
              <a:t>–$17,725</a:t>
            </a:r>
            <a:r>
              <a:rPr lang="en-US" dirty="0"/>
              <a:t> (i.e., a </a:t>
            </a:r>
            <a:r>
              <a:rPr lang="en-US" b="1" dirty="0"/>
              <a:t>loss</a:t>
            </a:r>
            <a:r>
              <a:rPr lang="en-US" dirty="0"/>
              <a:t>) — </a:t>
            </a:r>
            <a:r>
              <a:rPr lang="en-US" b="1" dirty="0"/>
              <a:t>Ranked last (17th)</a:t>
            </a:r>
            <a:r>
              <a:rPr lang="en-US" dirty="0"/>
              <a:t> ; </a:t>
            </a:r>
            <a:r>
              <a:rPr lang="en-IN" b="1" dirty="0"/>
              <a:t>Sales:</a:t>
            </a:r>
            <a:r>
              <a:rPr lang="en-IN" dirty="0"/>
              <a:t> $2,06,966 — </a:t>
            </a:r>
            <a:r>
              <a:rPr lang="en-IN" b="1" dirty="0"/>
              <a:t>Rank 4. </a:t>
            </a:r>
            <a:r>
              <a:rPr lang="en-US" dirty="0"/>
              <a:t>Tables have </a:t>
            </a:r>
            <a:r>
              <a:rPr lang="en-US" b="1" dirty="0"/>
              <a:t>high sales but negative profit</a:t>
            </a:r>
            <a:r>
              <a:rPr lang="en-US" dirty="0"/>
              <a:t>, indicating </a:t>
            </a:r>
            <a:r>
              <a:rPr lang="en-US" b="1" dirty="0"/>
              <a:t>heavy discounts, high returns, or cost issues</a:t>
            </a:r>
            <a:r>
              <a:rPr lang="en-US" dirty="0"/>
              <a:t>. This needs </a:t>
            </a:r>
            <a:r>
              <a:rPr lang="en-US" b="1" dirty="0"/>
              <a:t>urgent review</a:t>
            </a:r>
            <a:r>
              <a:rPr lang="en-US" dirty="0"/>
              <a:t> to stop loss leakage. </a:t>
            </a:r>
          </a:p>
          <a:p>
            <a:pPr marL="457200" indent="-457200" algn="just">
              <a:buFont typeface="Calibri" panose="020F0502020204030204" pitchFamily="34" charset="0"/>
              <a:buAutoNum type="arabicPeriod"/>
            </a:pPr>
            <a:r>
              <a:rPr lang="en-US" b="1" dirty="0"/>
              <a:t>Top 5 Sub-Categories Drive ~72% of Total Profit</a:t>
            </a:r>
            <a:r>
              <a:rPr lang="en-US" dirty="0"/>
              <a:t> : - </a:t>
            </a:r>
            <a:r>
              <a:rPr lang="en-IN" b="1" dirty="0"/>
              <a:t>Top 5 Profitable Sub-Categories</a:t>
            </a:r>
            <a:r>
              <a:rPr lang="en-IN" dirty="0"/>
              <a:t> (Copiers, Phones, Accessories, Paper, Binders) contribute: </a:t>
            </a:r>
            <a:r>
              <a:rPr lang="en-US" b="1" dirty="0"/>
              <a:t>$2,06,345.52</a:t>
            </a:r>
            <a:r>
              <a:rPr lang="en-US" dirty="0"/>
              <a:t> out of </a:t>
            </a:r>
            <a:r>
              <a:rPr lang="en-US" b="1" dirty="0"/>
              <a:t>$2,86,397</a:t>
            </a:r>
            <a:r>
              <a:rPr lang="en-US" dirty="0"/>
              <a:t> total profit → </a:t>
            </a:r>
            <a:r>
              <a:rPr lang="en-US" b="1" dirty="0"/>
              <a:t>~72%. </a:t>
            </a:r>
            <a:r>
              <a:rPr lang="en-US" dirty="0"/>
              <a:t>These 5 sub-categories are the </a:t>
            </a:r>
            <a:r>
              <a:rPr lang="en-US" b="1" dirty="0"/>
              <a:t>core profit drivers</a:t>
            </a:r>
            <a:r>
              <a:rPr lang="en-US" dirty="0"/>
              <a:t>. Strategy: Focus on upselling/cross-selling these or adding new similar items. 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523988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{BFF3CC25-4914-4209-B2AA-798751B7C0AF}tf22712842_win32</Template>
  <TotalTime>378</TotalTime>
  <Words>1124</Words>
  <Application>Microsoft Office PowerPoint</Application>
  <PresentationFormat>Widescreen</PresentationFormat>
  <Paragraphs>248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Display</vt:lpstr>
      <vt:lpstr>Arial</vt:lpstr>
      <vt:lpstr>Bookman Old Style</vt:lpstr>
      <vt:lpstr>Calibri</vt:lpstr>
      <vt:lpstr>Franklin Gothic Book</vt:lpstr>
      <vt:lpstr>Lato Black</vt:lpstr>
      <vt:lpstr>Custom</vt:lpstr>
      <vt:lpstr>Sales Performance Analysis</vt:lpstr>
      <vt:lpstr>Objective </vt:lpstr>
      <vt:lpstr>Dataset Overview</vt:lpstr>
      <vt:lpstr>Correlation:</vt:lpstr>
      <vt:lpstr>Trend / Time Series Analysis :</vt:lpstr>
      <vt:lpstr>Comparison Analysis: </vt:lpstr>
      <vt:lpstr>Insights: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Bhagnani</dc:creator>
  <cp:lastModifiedBy>Vikram Bhagnani</cp:lastModifiedBy>
  <cp:revision>2</cp:revision>
  <dcterms:created xsi:type="dcterms:W3CDTF">2025-08-19T05:23:36Z</dcterms:created>
  <dcterms:modified xsi:type="dcterms:W3CDTF">2025-12-14T18:45:39Z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